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9C4667-D0EB-4182-A979-F1BD41F3D31E}" type="datetime1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2E72FE-6225-48DC-96F7-A6D4A27B79B8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5E3DB2-6224-4F87-96B2-901B51FC324F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1335E-9FC5-4332-89A1-F61C26AF68B8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9742827-D144-4B2C-B4EF-283D1A1D2ABE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134D18-76F3-4340-B8E3-CE0608B72693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1DAD5-1ADC-4BAD-A5A2-B644A9983A58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4B273F-9A6A-422D-A6AB-3990B7538E9C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026E7C-B2F6-41BB-9643-AACFC392E830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2B0968A-0AED-4FB8-B40B-FB67848094BA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1F5BCB-5907-4BE5-BDA8-E10478C468F1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24630-BB87-4AF9-A3EB-1FC0B7D5A0A2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ED2A334-CAC3-41D9-9F20-8680444032ED}" type="datetime1">
              <a:rPr lang="ru-RU" noProof="0" smtClean="0"/>
              <a:t>19.12.2025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2E8C287-D018-43BB-961A-194062A1E79C}" type="datetime1">
              <a:rPr lang="ru-RU" smtClean="0"/>
              <a:pPr/>
              <a:t>19.12.2025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57F1E4F-1CFF-5643-939E-217C01CDF56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7" name="Рисунок 6" descr="Цифровые подключения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5D907C-A6B2-525B-AECE-0DEF0CD844F5}"/>
              </a:ext>
            </a:extLst>
          </p:cNvPr>
          <p:cNvSpPr/>
          <p:nvPr/>
        </p:nvSpPr>
        <p:spPr>
          <a:xfrm>
            <a:off x="448732" y="3983932"/>
            <a:ext cx="11260667" cy="2406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71" y="4571990"/>
            <a:ext cx="10993549" cy="895244"/>
          </a:xfrm>
        </p:spPr>
        <p:txBody>
          <a:bodyPr rtlCol="0">
            <a:no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Разработка СНС на </a:t>
            </a:r>
            <a:r>
              <a:rPr lang="ru-RU" sz="3200" dirty="0" err="1">
                <a:solidFill>
                  <a:schemeClr val="bg1"/>
                </a:solidFill>
              </a:rPr>
              <a:t>PyTorch</a:t>
            </a:r>
            <a:r>
              <a:rPr lang="ru-RU" sz="3200" dirty="0">
                <a:solidFill>
                  <a:schemeClr val="bg1"/>
                </a:solidFill>
              </a:rPr>
              <a:t> для классификации заболеваний легких по рентгеновским снимкам</a:t>
            </a:r>
            <a:r>
              <a:rPr lang="ru-RU" sz="6000" dirty="0"/>
              <a:t>.</a:t>
            </a:r>
            <a:endParaRPr lang="ru-RU" sz="6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74" y="546723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rgbClr val="7CEB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Подготовили : Маслов Артем и Филиппов Игорь</a:t>
            </a:r>
          </a:p>
          <a:p>
            <a:pPr rtl="0"/>
            <a:endParaRPr lang="ru-RU" dirty="0">
              <a:solidFill>
                <a:srgbClr val="7CEB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5AA71-9FBC-FF8F-5AF9-304D6832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Цель</a:t>
            </a:r>
            <a:r>
              <a:rPr lang="ru-RU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91518F-E1F4-C0CE-9C38-B52039826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776774"/>
            <a:ext cx="651834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Создание инструмента для поддержки принятия врачебных решений (второе мнение) используя такие инструменты как </a:t>
            </a:r>
            <a:r>
              <a:rPr lang="ru-RU" altLang="ru-RU" sz="3200" dirty="0">
                <a:solidFill>
                  <a:schemeClr val="tx1"/>
                </a:solidFill>
                <a:latin typeface="Arial" panose="020B0604020202020204" pitchFamily="34" charset="0"/>
              </a:rPr>
              <a:t>Python, </a:t>
            </a:r>
            <a:r>
              <a:rPr lang="ru-RU" altLang="ru-RU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PyTorch</a:t>
            </a:r>
            <a:r>
              <a:rPr lang="ru-RU" altLang="ru-RU" sz="32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ru-RU" altLang="ru-RU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Fastai</a:t>
            </a:r>
            <a:r>
              <a:rPr lang="ru-RU" altLang="ru-RU" sz="3200" dirty="0">
                <a:solidFill>
                  <a:schemeClr val="tx1"/>
                </a:solidFill>
                <a:latin typeface="Arial" panose="020B0604020202020204" pitchFamily="34" charset="0"/>
              </a:rPr>
              <a:t>, Google </a:t>
            </a:r>
            <a:r>
              <a:rPr lang="ru-RU" altLang="ru-RU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Colab</a:t>
            </a:r>
            <a:r>
              <a:rPr lang="ru-RU" altLang="ru-RU" sz="32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9" name="Picture 5" descr="Picture background">
            <a:extLst>
              <a:ext uri="{FF2B5EF4-FFF2-40B4-BE49-F238E27FC236}">
                <a16:creationId xmlns:a16="http://schemas.microsoft.com/office/drawing/2014/main" id="{372BFD2D-D1C4-B055-8C52-5337EE4EA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256" y="1703016"/>
            <a:ext cx="3730993" cy="205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C6BD443A-DC27-A0B7-855B-97CB85A5C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083" y="3712934"/>
            <a:ext cx="45720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400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36DC2-C82A-5F17-176A-8C32279C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Описание набора данных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83BF22-960B-9250-E0BC-94AFC5C98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2311489"/>
            <a:ext cx="67771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Источник: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Открытый датасет COVID-19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(Университет Монреаля).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Состав: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Рентгеновские снимки (PA, AP, AP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Supine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КТ-сканы.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Этическое одобрение: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Проект одобрен комитетом по этике №CERSES-20-058-D.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Классы: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COVID-19, вирусная и бактериальная пневмония, SARS, MERS, ARDS.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80EAF4FB-8F49-4F65-1F28-24471517F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807" y="3156059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0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76ACE-D688-6854-1FFE-F47BB1A4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Применяемые алгоритмы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84AA50-348F-1530-90F5-A9C0AF95B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126821"/>
            <a:ext cx="854555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 (ResNet34):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Использование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предобученной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модели для глубокого извлечения признаков.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Precision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(FP16):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Использование 16-битных вычислений для ускорения обучения на GPU в Google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Policy: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Алгоритм управления скоростью обучения для сверхбыстрой сходимости модели.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Метод регуляризации, предотвращающий переобучение на сложных медицинских снимках.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Автоматическая модификация снимков (повороты, масштабирование) для повышения устойчивости сети.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Алгоритм очистки данных от редких классов (менее 5 примеров) для стабильности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07973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A831D-90B2-9597-10DA-0BCE201D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Этапы реализации в коде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3E694-D59E-20D4-7D84-89D7FB250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ru-RU" sz="3000" b="1" dirty="0"/>
          </a:p>
          <a:p>
            <a:pPr marL="514350" indent="-514350">
              <a:buFont typeface="+mj-lt"/>
              <a:buAutoNum type="arabicPeriod"/>
            </a:pPr>
            <a:r>
              <a:rPr lang="ru-RU" sz="3000" b="1" dirty="0"/>
              <a:t>Загрузка:</a:t>
            </a:r>
            <a:r>
              <a:rPr lang="ru-RU" sz="3000" dirty="0"/>
              <a:t> Автоматическое клонирование репозитория </a:t>
            </a:r>
            <a:r>
              <a:rPr lang="ru-RU" sz="3000" dirty="0" err="1"/>
              <a:t>GitHub</a:t>
            </a:r>
            <a:r>
              <a:rPr lang="ru-RU" sz="3000" dirty="0"/>
              <a:t> и чтение metadata.csv.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b="1" dirty="0" err="1"/>
              <a:t>Препроцессинг</a:t>
            </a:r>
            <a:r>
              <a:rPr lang="ru-RU" sz="3000" b="1" dirty="0"/>
              <a:t>:</a:t>
            </a:r>
            <a:r>
              <a:rPr lang="ru-RU" sz="3000" dirty="0"/>
              <a:t> Фильтрация по типам проекций и проверка физического наличия файлов.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b="1" dirty="0"/>
              <a:t>Обучение:</a:t>
            </a:r>
            <a:r>
              <a:rPr lang="ru-RU" sz="3000" dirty="0"/>
              <a:t> Применение цикла </a:t>
            </a:r>
            <a:r>
              <a:rPr lang="ru-RU" sz="3000" dirty="0" err="1"/>
              <a:t>fine_tune</a:t>
            </a:r>
            <a:r>
              <a:rPr lang="ru-RU" sz="3000" dirty="0"/>
              <a:t> с автоматическим подбором параметров.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000" b="1" dirty="0"/>
              <a:t>Валидация:</a:t>
            </a:r>
            <a:r>
              <a:rPr lang="ru-RU" sz="3000" dirty="0"/>
              <a:t> Оценка точности (</a:t>
            </a:r>
            <a:r>
              <a:rPr lang="ru-RU" sz="3000" dirty="0" err="1"/>
              <a:t>Accuracy</a:t>
            </a:r>
            <a:r>
              <a:rPr lang="ru-RU" sz="3000" dirty="0"/>
              <a:t>) и функции потерь (</a:t>
            </a:r>
            <a:r>
              <a:rPr lang="ru-RU" sz="3000" dirty="0" err="1"/>
              <a:t>Loss</a:t>
            </a:r>
            <a:r>
              <a:rPr lang="ru-RU" sz="3000" dirty="0"/>
              <a:t>) на отложенной выборке.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66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47839-7762-7340-3E7A-58005FE9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Результаты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E01761-9735-0CE9-0F5D-A11E59D3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400158" cy="36783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000" b="1" dirty="0"/>
              <a:t>Графики:</a:t>
            </a:r>
            <a:r>
              <a:rPr lang="ru-RU" sz="3000" dirty="0"/>
              <a:t> Демонстрация динамики обучения</a:t>
            </a:r>
          </a:p>
          <a:p>
            <a:pPr marL="0" indent="0">
              <a:buNone/>
            </a:pPr>
            <a:r>
              <a:rPr lang="ru-RU" sz="3000" b="1" dirty="0"/>
              <a:t>Метрики:</a:t>
            </a:r>
            <a:r>
              <a:rPr lang="ru-RU" sz="3000" dirty="0"/>
              <a:t> Использование </a:t>
            </a:r>
            <a:r>
              <a:rPr lang="ru-RU" sz="3000" dirty="0" err="1"/>
              <a:t>Accuracy</a:t>
            </a:r>
            <a:r>
              <a:rPr lang="ru-RU" sz="3000" dirty="0"/>
              <a:t> и </a:t>
            </a:r>
            <a:r>
              <a:rPr lang="ru-RU" sz="3000" dirty="0" err="1"/>
              <a:t>Error</a:t>
            </a:r>
            <a:r>
              <a:rPr lang="ru-RU" sz="3000" dirty="0"/>
              <a:t> Rate для оценки качества классификации.</a:t>
            </a:r>
          </a:p>
          <a:p>
            <a:pPr marL="0" indent="0">
              <a:buNone/>
            </a:pPr>
            <a:r>
              <a:rPr lang="ru-RU" sz="3000" b="1" dirty="0"/>
              <a:t>Интерпретация:</a:t>
            </a:r>
            <a:r>
              <a:rPr lang="ru-RU" sz="3000" dirty="0"/>
              <a:t> Нейросеть обучается различать специфические признаки, такие как двустороннее матовое стекло при COVID-19.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007DF-9E11-3DBF-61D9-5FDE1CCB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571" y="2688834"/>
            <a:ext cx="6378430" cy="245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8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C4473-4A7A-1161-F5A6-BDD3583A4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Заключение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91041F-C68E-4308-B4D7-A9F6EFCFF4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4815" y="2185526"/>
            <a:ext cx="89423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Ограничение: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Модель не является диагностическим инструментом без клинических испытаний.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Разработан быстрый прототип СНС, способный обрабатывать данные из открытых источников и публикаций.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Перспектива: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Использование количественных оценок (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Brixia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для прогнозирования тяжести заболевания.</a:t>
            </a:r>
          </a:p>
        </p:txBody>
      </p:sp>
    </p:spTree>
    <p:extLst>
      <p:ext uri="{BB962C8B-B14F-4D97-AF65-F5344CB8AC3E}">
        <p14:creationId xmlns:p14="http://schemas.microsoft.com/office/powerpoint/2010/main" val="284421154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2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Техническое оформление</Template>
  <TotalTime>13</TotalTime>
  <Words>327</Words>
  <Application>Microsoft Office PowerPoint</Application>
  <PresentationFormat>Широкоэкранный</PresentationFormat>
  <Paragraphs>31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 2</vt:lpstr>
      <vt:lpstr>Пользовательские</vt:lpstr>
      <vt:lpstr>Разработка СНС на PyTorch для классификации заболеваний легких по рентгеновским снимкам.</vt:lpstr>
      <vt:lpstr>Цель </vt:lpstr>
      <vt:lpstr>Описание набора данных</vt:lpstr>
      <vt:lpstr>Применяемые алгоритмы</vt:lpstr>
      <vt:lpstr>Этапы реализации в коде</vt:lpstr>
      <vt:lpstr>Результаты реализации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Игорь Филиппов</dc:creator>
  <cp:lastModifiedBy>Игорь Филиппов</cp:lastModifiedBy>
  <cp:revision>1</cp:revision>
  <dcterms:created xsi:type="dcterms:W3CDTF">2025-12-19T07:07:57Z</dcterms:created>
  <dcterms:modified xsi:type="dcterms:W3CDTF">2025-12-19T07:21:15Z</dcterms:modified>
</cp:coreProperties>
</file>